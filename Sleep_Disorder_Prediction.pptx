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1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3E"/>
                </a:solidFill>
                <a:latin typeface="Arial"/>
              </a:rPr>
              <a:t>Sleep Disorder Distribution (n=374)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B9D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9D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058-4A96-A915-82D4CB6F8A4C}"/>
              </c:ext>
            </c:extLst>
          </c:dPt>
          <c:dPt>
            <c:idx val="1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58-4A96-A915-82D4CB6F8A4C}"/>
              </c:ext>
            </c:extLst>
          </c:dPt>
          <c:dPt>
            <c:idx val="2"/>
            <c:invertIfNegative val="0"/>
            <c:bubble3D val="0"/>
            <c:spPr>
              <a:solidFill>
                <a:srgbClr val="7C6C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58-4A96-A915-82D4CB6F8A4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Sleep Apnea</c:v>
                </c:pt>
                <c:pt idx="2">
                  <c:v>Insomnia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</c:v>
                </c:pt>
                <c:pt idx="1">
                  <c:v>78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058-4A96-A915-82D4CB6F8A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3E"/>
                </a:solidFill>
                <a:latin typeface="Arial"/>
              </a:rPr>
              <a:t>Gender vs Sleep Disorder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0B9D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</c:v>
                </c:pt>
                <c:pt idx="1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C4-43B4-8F21-0FCD2F5E84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Sleep Disorder</c:v>
                </c:pt>
              </c:strCache>
            </c:strRef>
          </c:tx>
          <c:spPr>
            <a:solidFill>
              <a:srgbClr val="F484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112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C4-43B4-8F21-0FCD2F5E84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Avg Stress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Stress</c:v>
                </c:pt>
              </c:strCache>
            </c:strRef>
          </c:tx>
          <c:spPr>
            <a:solidFill>
              <a:srgbClr val="0B9D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9D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2F7-49D9-B2B9-584E22E08E93}"/>
              </c:ext>
            </c:extLst>
          </c:dPt>
          <c:dPt>
            <c:idx val="1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F7-49D9-B2B9-584E22E08E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Sleep Disorder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</c:v>
                </c:pt>
                <c:pt idx="1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F7-49D9-B2B9-584E22E08E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F5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Avg Physical Activity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Activity (min)</c:v>
                </c:pt>
              </c:strCache>
            </c:strRef>
          </c:tx>
          <c:spPr>
            <a:solidFill>
              <a:srgbClr val="0B9D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A7-40FB-9702-1ADAF08C663E}"/>
              </c:ext>
            </c:extLst>
          </c:dPt>
          <c:dPt>
            <c:idx val="1"/>
            <c:invertIfNegative val="0"/>
            <c:bubble3D val="0"/>
            <c:spPr>
              <a:solidFill>
                <a:srgbClr val="7C6C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A7-40FB-9702-1ADAF08C66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Sleep Disorder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A7-40FB-9702-1ADAF08C66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F5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Avg Sleep Quality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CC1-45A5-B88C-3392092761F9}"/>
              </c:ext>
            </c:extLst>
          </c:dPt>
          <c:dPt>
            <c:idx val="1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C1-45A5-B88C-3392092761F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Sleep Disorder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7.5</c:v>
                </c:pt>
                <c:pt idx="1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C1-45A5-B88C-3392092761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F5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3E"/>
                </a:solidFill>
                <a:latin typeface="Arial"/>
              </a:rPr>
              <a:t>BMI Category vs Sleep Disorder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0B9D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Overweight</c:v>
                </c:pt>
                <c:pt idx="2">
                  <c:v>Obese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70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A1-4DC0-BCEB-B555CE5455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Sleep Disorder</c:v>
                </c:pt>
              </c:strCache>
            </c:strRef>
          </c:tx>
          <c:spPr>
            <a:solidFill>
              <a:srgbClr val="F484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Overweight</c:v>
                </c:pt>
                <c:pt idx="2">
                  <c:v>Obese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80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A1-4DC0-BCEB-B555CE5455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3E"/>
                </a:solidFill>
                <a:latin typeface="Arial"/>
              </a:rPr>
              <a:t>Avg Systolic Blood Pressure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Systolic BP (avg)</c:v>
                </c:pt>
              </c:strCache>
            </c:strRef>
          </c:tx>
          <c:spPr>
            <a:solidFill>
              <a:srgbClr val="0B9D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9D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036-49BC-89C3-457FB7D22065}"/>
              </c:ext>
            </c:extLst>
          </c:dPt>
          <c:dPt>
            <c:idx val="1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36-49BC-89C3-457FB7D220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Sleep Disorder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119</c:v>
                </c:pt>
                <c:pt idx="1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36-49BC-89C3-457FB7D220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3E"/>
                </a:solidFill>
                <a:latin typeface="Arial"/>
              </a:rPr>
              <a:t>Avg Heart Rate (bpm)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Rate (avg)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BD9-46FE-849C-2328B20D0FC4}"/>
              </c:ext>
            </c:extLst>
          </c:dPt>
          <c:dPt>
            <c:idx val="1"/>
            <c:invertIfNegative val="0"/>
            <c:bubble3D val="0"/>
            <c:spPr>
              <a:solidFill>
                <a:srgbClr val="7C6C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D9-46FE-849C-2328B20D0F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Sleep Disorder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</c:v>
                </c:pt>
                <c:pt idx="1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D9-46FE-849C-2328B20D0F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3E"/>
                </a:solidFill>
                <a:latin typeface="Arial"/>
              </a:rPr>
              <a:t>Test Accuracy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92-46A3-B42A-5C72CECBAE76}"/>
              </c:ext>
            </c:extLst>
          </c:dPt>
          <c:dPt>
            <c:idx val="1"/>
            <c:invertIfNegative val="0"/>
            <c:bubble3D val="0"/>
            <c:spPr>
              <a:solidFill>
                <a:srgbClr val="0B9D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92-46A3-B42A-5C72CECBAE76}"/>
              </c:ext>
            </c:extLst>
          </c:dPt>
          <c:dPt>
            <c:idx val="2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92-46A3-B42A-5C72CECBAE7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87</c:v>
                </c:pt>
                <c:pt idx="2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892-46A3-B42A-5C72CECBAE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 (%)</c:v>
                </c:pt>
              </c:strCache>
            </c:strRef>
          </c:tx>
          <c:spPr>
            <a:solidFill>
              <a:srgbClr val="0B9D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3E9-4935-9B05-8B4E571F4DA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3E9-4935-9B05-8B4E571F4DA6}"/>
              </c:ext>
            </c:extLst>
          </c:dPt>
          <c:dPt>
            <c:idx val="2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E9-4935-9B05-8B4E571F4DA6}"/>
              </c:ext>
            </c:extLst>
          </c:dPt>
          <c:dPt>
            <c:idx val="3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E9-4935-9B05-8B4E571F4DA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3E9-4935-9B05-8B4E571F4DA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3E9-4935-9B05-8B4E571F4DA6}"/>
              </c:ext>
            </c:extLst>
          </c:dPt>
          <c:dPt>
            <c:idx val="6"/>
            <c:invertIfNegative val="0"/>
            <c:bubble3D val="0"/>
            <c:spPr>
              <a:solidFill>
                <a:srgbClr val="7C6C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3E9-4935-9B05-8B4E571F4DA6}"/>
              </c:ext>
            </c:extLst>
          </c:dPt>
          <c:dPt>
            <c:idx val="7"/>
            <c:invertIfNegative val="0"/>
            <c:bubble3D val="0"/>
            <c:spPr>
              <a:solidFill>
                <a:srgbClr val="7C6C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3E9-4935-9B05-8B4E571F4DA6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3E9-4935-9B05-8B4E571F4DA6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3E9-4935-9B05-8B4E571F4D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Quality of Sleep</c:v>
                </c:pt>
                <c:pt idx="1">
                  <c:v>Stress Level</c:v>
                </c:pt>
                <c:pt idx="2">
                  <c:v>Systolic BP</c:v>
                </c:pt>
                <c:pt idx="3">
                  <c:v>BMI — Overweight</c:v>
                </c:pt>
                <c:pt idx="4">
                  <c:v>Age</c:v>
                </c:pt>
                <c:pt idx="5">
                  <c:v>Daily Steps</c:v>
                </c:pt>
                <c:pt idx="6">
                  <c:v>Heart Rate</c:v>
                </c:pt>
                <c:pt idx="7">
                  <c:v>Diastolic BP</c:v>
                </c:pt>
                <c:pt idx="8">
                  <c:v>Physical Activity</c:v>
                </c:pt>
                <c:pt idx="9">
                  <c:v>Sleep Duration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</c:v>
                </c:pt>
                <c:pt idx="1">
                  <c:v>19</c:v>
                </c:pt>
                <c:pt idx="2">
                  <c:v>14</c:v>
                </c:pt>
                <c:pt idx="3">
                  <c:v>11</c:v>
                </c:pt>
                <c:pt idx="4">
                  <c:v>9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3E9-4935-9B05-8B4E571F4D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54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3BFA9">
              <a:alpha val="12000"/>
            </a:srgbClr>
          </a:solidFill>
          <a:ln w="12700">
            <a:solidFill>
              <a:srgbClr val="13BF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F4845F">
              <a:alpha val="12000"/>
            </a:srgbClr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48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9144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Disorder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Analysis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Healthcare Intelligence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3200400" cy="36576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3822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Sufferers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8328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383280" y="3822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Apnea Cases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792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217920" y="3822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Affected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ML-Powered Sleep Health Analysis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0B9D8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554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" y="2057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82880" y="27432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disorders are under-diagnosed globally — our goal is to build a predictive ML model to detect them early.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228600"/>
            <a:ext cx="53949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228600"/>
            <a:ext cx="91440" cy="1389888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5486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4114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97680" y="758952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1/3 of adults have undiagnosed sleep disorders, leading to cardiovascular risk, reduced productivity, and mental health decline.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520440" y="1801368"/>
            <a:ext cx="53949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20440" y="1801368"/>
            <a:ext cx="91440" cy="1389888"/>
          </a:xfrm>
          <a:prstGeom prst="rect">
            <a:avLst/>
          </a:prstGeom>
          <a:solidFill>
            <a:srgbClr val="0B9D8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12140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97680" y="1984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297680" y="233172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multi-class ML classifier to predict Healthy, Insomnia, or Sleep Apnea using lifestyle &amp; health features.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520440" y="3374136"/>
            <a:ext cx="53949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520440" y="3374136"/>
            <a:ext cx="91440" cy="1389888"/>
          </a:xfrm>
          <a:prstGeom prst="rect">
            <a:avLst/>
          </a:prstGeom>
          <a:solidFill>
            <a:srgbClr val="7C6CF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694176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297680" y="35570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297680" y="390448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Health &amp; Lifestyle dataset with 374 patients, 13 features including age, BMI, stress, occupation, and cardiovascular metrics.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Health &amp; Lifestyle — 374 Patients  |  13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48132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82880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20665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– 59 yrs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371600"/>
            <a:ext cx="2011680" cy="64008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48132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78608" y="182880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78608" y="20665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371600"/>
            <a:ext cx="2011680" cy="64008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148132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27448" y="182880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27448" y="20665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jobs → 6 groups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371600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21" name="Text 19"/>
          <p:cNvSpPr/>
          <p:nvPr/>
        </p:nvSpPr>
        <p:spPr>
          <a:xfrm>
            <a:off x="6876288" y="148132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182880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76288" y="20665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night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578608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578608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26883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Sleep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" y="30358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" y="327355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68880" y="2578608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2578608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31" name="Text 29"/>
          <p:cNvSpPr/>
          <p:nvPr/>
        </p:nvSpPr>
        <p:spPr>
          <a:xfrm>
            <a:off x="2578608" y="26883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78608" y="30358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78608" y="327355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Minutes/day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578608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578608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36" name="Text 34"/>
          <p:cNvSpPr/>
          <p:nvPr/>
        </p:nvSpPr>
        <p:spPr>
          <a:xfrm>
            <a:off x="4727448" y="26883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27448" y="30358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27448" y="327355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1–10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2578608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2578608"/>
            <a:ext cx="2011680" cy="64008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41" name="Text 39"/>
          <p:cNvSpPr/>
          <p:nvPr/>
        </p:nvSpPr>
        <p:spPr>
          <a:xfrm>
            <a:off x="6876288" y="26883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Category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76288" y="30358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76288" y="327355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Normal/Overweight/Obese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3785616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3785616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46" name="Text 44"/>
          <p:cNvSpPr/>
          <p:nvPr/>
        </p:nvSpPr>
        <p:spPr>
          <a:xfrm>
            <a:off x="429768" y="389534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29768" y="424281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9768" y="44805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BP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68880" y="3785616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468880" y="3785616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51" name="Text 49"/>
          <p:cNvSpPr/>
          <p:nvPr/>
        </p:nvSpPr>
        <p:spPr>
          <a:xfrm>
            <a:off x="2578608" y="389534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578608" y="424281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78608" y="44805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BP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3785616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3785616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56" name="Text 54"/>
          <p:cNvSpPr/>
          <p:nvPr/>
        </p:nvSpPr>
        <p:spPr>
          <a:xfrm>
            <a:off x="4727448" y="389534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727448" y="424281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27448" y="44805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766560" y="3785616"/>
            <a:ext cx="2011680" cy="1024128"/>
          </a:xfrm>
          <a:prstGeom prst="rect">
            <a:avLst/>
          </a:prstGeom>
          <a:solidFill>
            <a:srgbClr val="1A2F5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766560" y="3785616"/>
            <a:ext cx="2011680" cy="64008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61" name="Text 59"/>
          <p:cNvSpPr/>
          <p:nvPr/>
        </p:nvSpPr>
        <p:spPr>
          <a:xfrm>
            <a:off x="6876288" y="389534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Steps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876288" y="424281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76288" y="44805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 day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4663440"/>
            <a:ext cx="228600" cy="146304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65" name="Text 63"/>
          <p:cNvSpPr/>
          <p:nvPr/>
        </p:nvSpPr>
        <p:spPr>
          <a:xfrm>
            <a:off x="621792" y="4645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Numeric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828800" y="4663440"/>
            <a:ext cx="228600" cy="146304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67" name="Text 65"/>
          <p:cNvSpPr/>
          <p:nvPr/>
        </p:nvSpPr>
        <p:spPr>
          <a:xfrm>
            <a:off x="2130552" y="46451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Categorical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00800" y="4572000"/>
            <a:ext cx="2468880" cy="411480"/>
          </a:xfrm>
          <a:prstGeom prst="rect">
            <a:avLst/>
          </a:prstGeom>
          <a:solidFill>
            <a:srgbClr val="0B9D8A">
              <a:alpha val="8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446520" y="46085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Sleep Disorder  (Healthy | Insomnia | Sleep Apnea)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Sleep Disorder Distribution &amp; Risk Factors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1143000"/>
          <a:ext cx="4023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46268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58.6% of subjects are Healthy | 20.9% have Sleep Apnea | 20.6% have Insomnia — Males show higher sleep disorder prevalence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Health Risk Factors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stress, activity, sleep quality, and cardiovascular health relate to sleep disorders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28346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291840" y="1097280"/>
          <a:ext cx="28346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6309360" y="1097280"/>
          <a:ext cx="25603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3931920"/>
            <a:ext cx="2743200" cy="91440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8" name="Shape 3"/>
          <p:cNvSpPr/>
          <p:nvPr/>
        </p:nvSpPr>
        <p:spPr>
          <a:xfrm>
            <a:off x="274320" y="3931920"/>
            <a:ext cx="2743200" cy="54864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9" name="Text 4"/>
          <p:cNvSpPr/>
          <p:nvPr/>
        </p:nvSpPr>
        <p:spPr>
          <a:xfrm>
            <a:off x="384048" y="39867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84048" y="427939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differentiator — Sleep Disorder group has ~70% higher stress (7.1 vs 4.2)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200400" y="3931920"/>
            <a:ext cx="2743200" cy="91440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12" name="Shape 7"/>
          <p:cNvSpPr/>
          <p:nvPr/>
        </p:nvSpPr>
        <p:spPr>
          <a:xfrm>
            <a:off x="3200400" y="3931920"/>
            <a:ext cx="2743200" cy="54864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13" name="Text 8"/>
          <p:cNvSpPr/>
          <p:nvPr/>
        </p:nvSpPr>
        <p:spPr>
          <a:xfrm>
            <a:off x="3310128" y="39867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310128" y="427939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difference — both groups show moderate activity (~60 min/day)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126480" y="3931920"/>
            <a:ext cx="2743200" cy="91440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16" name="Shape 11"/>
          <p:cNvSpPr/>
          <p:nvPr/>
        </p:nvSpPr>
        <p:spPr>
          <a:xfrm>
            <a:off x="6126480" y="393192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2"/>
          <p:cNvSpPr/>
          <p:nvPr/>
        </p:nvSpPr>
        <p:spPr>
          <a:xfrm>
            <a:off x="6236208" y="39867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36208" y="427939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subjects score ~1.7 points higher — quality is a strong predictor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&amp; Cardiovascular Indicators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and blood pressure metrics reveal cardiovascular-sleep disorder links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97280"/>
          <a:ext cx="41148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4754880" y="2834640"/>
          <a:ext cx="41148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4526280"/>
            <a:ext cx="841248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3"/>
          <p:cNvSpPr/>
          <p:nvPr/>
        </p:nvSpPr>
        <p:spPr>
          <a:xfrm>
            <a:off x="502920" y="456285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Overweight/Obese individuals dominate the Sleep Disorder group | Systolic BP ~10 mmHg higher | HR elevated by ~5 bpm — strong cardiovascular link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transformations applied before model training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55448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1554480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→ Healthy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Sleep Disorder entries filled as 'Healthy' — confirmed by domain analysis that NaN = no disorder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155448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73152" cy="155448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984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Age binned into 4 groups (20–30, 30–40, 40–50, 50–60) to capture non-linear age effects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155448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73152" cy="155448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984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Grouping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unique jobs condensed into 6 categories: Health, Tech, Research, Education, Finance, Sales, Legal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55448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35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Split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'120/80' column split into Systolic_BP and Diastolic_BP numeric features — both shown as independent predictors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43200" cy="155448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73152" cy="155448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035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429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categorical variables encoded using pd.get_dummies with drop_first=True to avoid multicollinearity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43200" cy="155448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73152" cy="1554480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35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(Target)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Healthy=0, Insomnia=1, Sleep Apnea=2 using sklearn LabelEncoder for multi-class classification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Decision Tree vs Random Forest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63040"/>
          <a:ext cx="3291840" cy="2240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84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3840480"/>
            <a:ext cx="3291840" cy="713232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931920"/>
            <a:ext cx="347472" cy="3474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1344" y="3913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Best Model</a:t>
            </a:r>
            <a:endParaRPr lang="en-US" sz="1200" dirty="0"/>
          </a:p>
        </p:txBody>
      </p:sp>
      <p:sp>
        <p:nvSpPr>
          <p:cNvPr id="5" name="Text 4"/>
          <p:cNvSpPr/>
          <p:nvPr/>
        </p:nvSpPr>
        <p:spPr>
          <a:xfrm>
            <a:off x="6181344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&amp; most balanced class scores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Best RF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Results &amp; ROC-AUC 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(Tuned RF)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411480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\ Predicted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BF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84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Insomnia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C6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Apnea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BF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84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84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Insomnia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84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C6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Apnea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84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554480"/>
            <a:ext cx="3931920" cy="82296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8" name="Text 5"/>
          <p:cNvSpPr/>
          <p:nvPr/>
        </p:nvSpPr>
        <p:spPr>
          <a:xfrm>
            <a:off x="4983480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— Healthy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83480" y="1984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0.99</a:t>
            </a:r>
            <a:endParaRPr lang="en-US" sz="1400" dirty="0"/>
          </a:p>
        </p:txBody>
      </p:sp>
      <p:sp>
        <p:nvSpPr>
          <p:cNvPr id="5" name="Shape 7"/>
          <p:cNvSpPr/>
          <p:nvPr/>
        </p:nvSpPr>
        <p:spPr>
          <a:xfrm>
            <a:off x="6766560" y="1847088"/>
            <a:ext cx="2715768" cy="256032"/>
          </a:xfrm>
          <a:prstGeom prst="rect">
            <a:avLst/>
          </a:prstGeom>
          <a:solidFill>
            <a:srgbClr val="0B9D8A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766560" y="1847088"/>
            <a:ext cx="45720" cy="256032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2560320"/>
            <a:ext cx="3931920" cy="82296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2651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— Insomnia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66560" y="2852928"/>
            <a:ext cx="2578608" cy="256032"/>
          </a:xfrm>
          <a:prstGeom prst="rect">
            <a:avLst/>
          </a:prstGeom>
          <a:solidFill>
            <a:srgbClr val="F4845F">
              <a:alpha val="7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766560" y="2852928"/>
            <a:ext cx="45720" cy="25603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7" name="Shape 14"/>
          <p:cNvSpPr/>
          <p:nvPr/>
        </p:nvSpPr>
        <p:spPr>
          <a:xfrm>
            <a:off x="4846320" y="3566160"/>
            <a:ext cx="3931920" cy="82296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18" name="Text 15"/>
          <p:cNvSpPr/>
          <p:nvPr/>
        </p:nvSpPr>
        <p:spPr>
          <a:xfrm>
            <a:off x="498348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— Sleep Apnea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83480" y="3995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0.97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66560" y="3858768"/>
            <a:ext cx="2660904" cy="256032"/>
          </a:xfrm>
          <a:prstGeom prst="rect">
            <a:avLst/>
          </a:prstGeom>
          <a:solidFill>
            <a:srgbClr val="7C6CF0">
              <a:alpha val="7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766560" y="3858768"/>
            <a:ext cx="45720" cy="256032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(5-fold)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CV Score: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148840" y="43708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383280" y="4407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fold scores: [0.89, 0.91, 0.93, 0.90, 0.91]  — Consistent and stable across all folds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drive sleep disorder prediction most — Random Forest Feature Importance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56692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51560"/>
            <a:ext cx="2651760" cy="1143000"/>
          </a:xfrm>
          <a:prstGeom prst="rect">
            <a:avLst/>
          </a:prstGeom>
          <a:solidFill>
            <a:srgbClr val="0D1B3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55080" y="11430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0372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Sleep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03720" y="1435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0.22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55080" y="170992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predictor — poor sleep quality is the strongest indicator of disorders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17920" y="2331720"/>
            <a:ext cx="2651760" cy="1143000"/>
          </a:xfrm>
          <a:prstGeom prst="rect">
            <a:avLst/>
          </a:prstGeom>
          <a:solidFill>
            <a:srgbClr val="0D1B3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55080" y="2423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03720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03720" y="2715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0.19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29900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stress is the second-strongest driver — sleep disorders and stress form a vicious cycle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0" y="3611880"/>
            <a:ext cx="2651760" cy="1143000"/>
          </a:xfrm>
          <a:prstGeom prst="rect">
            <a:avLst/>
          </a:prstGeom>
          <a:solidFill>
            <a:srgbClr val="0D1B3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37033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0372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03720" y="3995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0.14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42702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blood pressure frequently co-occurs with sleep apnea — cardiovascular link confirmed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what the data and model revealed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0B9D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533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31673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is the #1 Modifiable Risk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874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levels averaged 7.1 in disorder patients vs 4.2 in healthy subjects — the strongest modifiable lifestyle predictor.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743200" cy="164592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533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31673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Co-Occurrence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37560" y="1874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BP and heart rate strongly correlate with sleep disorders — addressing sleep health may reduce cardiovascular risk.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743200" cy="164592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2743200" cy="64008"/>
          </a:xfrm>
          <a:prstGeom prst="rect">
            <a:avLst/>
          </a:prstGeom>
          <a:solidFill>
            <a:srgbClr val="7C6CF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35331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31673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is a Major Risk Factor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63640" y="1874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and obese individuals dominate the sleep disorder group, confirming BMI as a key predictive feature.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74320" y="3017520"/>
            <a:ext cx="2743200" cy="164592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3017520"/>
            <a:ext cx="2743200" cy="6400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821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14553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Achieves 93% Accuracy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11480" y="37033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hyperparameter tuning achieved 93% test accuracy with high precision and recall across all 3 classes.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00400" y="3017520"/>
            <a:ext cx="2743200" cy="164592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3017520"/>
            <a:ext cx="2743200" cy="64008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18211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314553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AUC Across Classes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37560" y="37033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0.99 (Healthy), 0.97 (Sleep Apnea), 0.94 (Insomnia) — model is clinically viable for early screening.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743200" cy="1645920"/>
          </a:xfrm>
          <a:prstGeom prst="rect">
            <a:avLst/>
          </a:prstGeom>
          <a:solidFill>
            <a:srgbClr val="1A2F52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3017520"/>
            <a:ext cx="2743200" cy="64008"/>
          </a:xfrm>
          <a:prstGeom prst="rect">
            <a:avLst/>
          </a:prstGeom>
          <a:solidFill>
            <a:srgbClr val="0B9D8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18211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314553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is Diagnostic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63640" y="37033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Sleep score is the single most important feature — tracking sleep quality could enable early disorder detection.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9D8A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554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74320" y="2057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sleep_disorder_model.pkl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deployment &amp; integration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49040" y="274320"/>
            <a:ext cx="5166360" cy="100584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10" name="Shape 7"/>
          <p:cNvSpPr/>
          <p:nvPr/>
        </p:nvSpPr>
        <p:spPr>
          <a:xfrm>
            <a:off x="3749040" y="274320"/>
            <a:ext cx="73152" cy="100584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1" name="Text 8"/>
          <p:cNvSpPr/>
          <p:nvPr/>
        </p:nvSpPr>
        <p:spPr>
          <a:xfrm>
            <a:off x="3931920" y="365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31920" y="694944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3-class sleep disorder predictor with 93% accuracy using Random Forest on lifestyle + health data.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49040" y="2057400"/>
            <a:ext cx="5166360" cy="100584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14" name="Shape 11"/>
          <p:cNvSpPr/>
          <p:nvPr/>
        </p:nvSpPr>
        <p:spPr>
          <a:xfrm>
            <a:off x="3749040" y="205740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3909060" y="2247949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09060" y="2558845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Random Forest — GridSearchCV over n_estimators, max_depth, features — consistently outperforms LR &amp; DT.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03320" y="3621024"/>
            <a:ext cx="5166360" cy="1005840"/>
          </a:xfrm>
          <a:prstGeom prst="rect">
            <a:avLst/>
          </a:prstGeom>
          <a:solidFill>
            <a:srgbClr val="1A2F52"/>
          </a:solidFill>
          <a:ln/>
        </p:spPr>
      </p:sp>
      <p:sp>
        <p:nvSpPr>
          <p:cNvPr id="18" name="Shape 15"/>
          <p:cNvSpPr/>
          <p:nvPr/>
        </p:nvSpPr>
        <p:spPr>
          <a:xfrm>
            <a:off x="3707892" y="3621024"/>
            <a:ext cx="73152" cy="100584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37764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877056" y="4123944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prioritizes key risk factors (sleep quality, stress, BP) that are routinely measurable in clinical settings.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93192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931920" y="4123944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1042</Words>
  <Application>Microsoft Office PowerPoint</Application>
  <PresentationFormat>On-screen Show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Disorder Prediction</dc:title>
  <dc:subject>PptxGenJS Presentation</dc:subject>
  <dc:creator>PptxGenJS</dc:creator>
  <cp:lastModifiedBy>AVISEK DAS</cp:lastModifiedBy>
  <cp:revision>2</cp:revision>
  <dcterms:created xsi:type="dcterms:W3CDTF">2026-06-08T17:57:08Z</dcterms:created>
  <dcterms:modified xsi:type="dcterms:W3CDTF">2026-06-08T18:04:18Z</dcterms:modified>
</cp:coreProperties>
</file>